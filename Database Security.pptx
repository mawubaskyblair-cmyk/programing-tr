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80" r:id="rId5"/>
    <p:sldId id="266" r:id="rId6"/>
    <p:sldId id="260" r:id="rId7"/>
    <p:sldId id="267" r:id="rId8"/>
    <p:sldId id="281" r:id="rId9"/>
    <p:sldId id="268" r:id="rId10"/>
    <p:sldId id="269" r:id="rId11"/>
    <p:sldId id="282" r:id="rId12"/>
    <p:sldId id="283" r:id="rId13"/>
    <p:sldId id="284" r:id="rId14"/>
    <p:sldId id="286" r:id="rId15"/>
    <p:sldId id="287" r:id="rId16"/>
    <p:sldId id="28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JsF6YUxcF5H5Aw1r24jNpCZVz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7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65744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57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03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631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8B249E0F-3124-A668-5887-1903E43B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>
            <a:extLst>
              <a:ext uri="{FF2B5EF4-FFF2-40B4-BE49-F238E27FC236}">
                <a16:creationId xmlns:a16="http://schemas.microsoft.com/office/drawing/2014/main" id="{F4943B96-A30A-4AC0-E72C-03A7A8E06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>
            <a:extLst>
              <a:ext uri="{FF2B5EF4-FFF2-40B4-BE49-F238E27FC236}">
                <a16:creationId xmlns:a16="http://schemas.microsoft.com/office/drawing/2014/main" id="{2988EDB5-4F16-043C-E1BF-25F1298CC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407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E18D0EBB-92F3-0370-75AD-A2F5F331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296EED27-9449-4C6E-3F18-046AA5EA1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9D389D70-9BF8-788A-93BD-9F346EBCA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F9DA99E7-4851-E70E-D8B6-95E6A24175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6423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8319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F8A822C6-130A-14A9-6A1D-A57B7B88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96A30B95-12EB-B5D0-3BC8-60E11E7F3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AF1F6D42-5780-35A3-91EF-1E2E9AD7A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A4B313F4-C8BC-80ED-944E-ADC21420F8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6262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82BBB9B5-406B-D734-1676-B9909968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2FAF4DAA-BF83-8A11-FF5E-97C8D5DC6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1B329A69-F0E9-D61B-9B85-108AB8DB7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4A71FA43-7AF8-D8CF-22F1-3BECBB0CFC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0049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3ECF7107-C229-94E5-DA7D-DE61D1845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2A687219-3B31-B802-F5E8-AF391068A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F6D9ED67-7A8C-EDA9-2BA3-BEFF65665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1DD1E354-4667-EDDD-77FB-364D230C1D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9802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DFFB884C-6724-2A8B-F54B-DDD1B9FE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516D3468-E9A1-5ED6-A9AE-49D6DA8F8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36F0D862-828A-C802-5927-5A0205A589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805947F9-23A1-EC98-CFFD-BD9E8627CF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565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info@ucu.ac.ug" TargetMode="External"/><Relationship Id="rId5" Type="http://schemas.openxmlformats.org/officeDocument/2006/relationships/hyperlink" Target="https://ucu.ac.ug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18"/>
          <p:cNvGrpSpPr/>
          <p:nvPr/>
        </p:nvGrpSpPr>
        <p:grpSpPr>
          <a:xfrm>
            <a:off x="888267" y="4604423"/>
            <a:ext cx="5551131" cy="1360803"/>
            <a:chOff x="3063490" y="4400284"/>
            <a:chExt cx="5551131" cy="1360803"/>
          </a:xfrm>
        </p:grpSpPr>
        <p:grpSp>
          <p:nvGrpSpPr>
            <p:cNvPr id="73" name="Google Shape;73;p18"/>
            <p:cNvGrpSpPr/>
            <p:nvPr/>
          </p:nvGrpSpPr>
          <p:grpSpPr>
            <a:xfrm>
              <a:off x="4215162" y="4400284"/>
              <a:ext cx="4399459" cy="1360286"/>
              <a:chOff x="3595675" y="3836538"/>
              <a:chExt cx="5247402" cy="1632365"/>
            </a:xfrm>
          </p:grpSpPr>
          <p:pic>
            <p:nvPicPr>
              <p:cNvPr id="74" name="Google Shape;74;p18" descr="facebook instagram whatsapp PNG image with transparent background | TOPpng"/>
              <p:cNvPicPr preferRelativeResize="0"/>
              <p:nvPr/>
            </p:nvPicPr>
            <p:blipFill rotWithShape="1">
              <a:blip r:embed="rId2">
                <a:alphaModFix/>
              </a:blip>
              <a:srcRect r="66494" b="67238"/>
              <a:stretch/>
            </p:blipFill>
            <p:spPr>
              <a:xfrm>
                <a:off x="3693167" y="4915321"/>
                <a:ext cx="249211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8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l="67402" b="69905"/>
              <a:stretch/>
            </p:blipFill>
            <p:spPr>
              <a:xfrm>
                <a:off x="3685804" y="5173122"/>
                <a:ext cx="263933" cy="2591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8" descr="Round black telephone logo, Telephone Icon, Phone File, electronics, logo,  black And White png | PNGWi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693167" y="4579064"/>
                <a:ext cx="249209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8"/>
              <p:cNvSpPr txBox="1"/>
              <p:nvPr/>
            </p:nvSpPr>
            <p:spPr>
              <a:xfrm>
                <a:off x="3943860" y="4840719"/>
                <a:ext cx="296423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8" name="Google Shape;78;p18"/>
              <p:cNvSpPr txBox="1"/>
              <p:nvPr/>
            </p:nvSpPr>
            <p:spPr>
              <a:xfrm>
                <a:off x="6724749" y="4848559"/>
                <a:ext cx="1781016" cy="36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</a:t>
                </a:r>
                <a:r>
                  <a:rPr lang="en-GB"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UCUniversity</a:t>
                </a:r>
                <a:endParaRPr sz="135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9" name="Google Shape;79;p18"/>
              <p:cNvSpPr txBox="1"/>
              <p:nvPr/>
            </p:nvSpPr>
            <p:spPr>
              <a:xfrm>
                <a:off x="3961223" y="5136500"/>
                <a:ext cx="324006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0" name="Google Shape;80;p18"/>
              <p:cNvSpPr txBox="1"/>
              <p:nvPr/>
            </p:nvSpPr>
            <p:spPr>
              <a:xfrm>
                <a:off x="3619181" y="4118017"/>
                <a:ext cx="5223896" cy="720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P.O. Box 4 Mukono, Uganda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Tel: 256-312-350800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100"/>
                  <a:buFont typeface="Trebuchet MS"/>
                  <a:buNone/>
                </a:pPr>
                <a:r>
                  <a:rPr lang="en-GB"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     https://ucu.ac.ug/</a:t>
                </a:r>
                <a:r>
                  <a:rPr lang="en-GB" sz="1100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  Email: </a:t>
                </a:r>
                <a:r>
                  <a:rPr lang="en-GB"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info@ucu.ac.ug</a:t>
                </a:r>
                <a:r>
                  <a:rPr lang="en-GB" sz="1100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.   </a:t>
                </a:r>
                <a:endParaRPr/>
              </a:p>
            </p:txBody>
          </p:sp>
          <p:sp>
            <p:nvSpPr>
              <p:cNvPr id="81" name="Google Shape;81;p18"/>
              <p:cNvSpPr txBox="1"/>
              <p:nvPr/>
            </p:nvSpPr>
            <p:spPr>
              <a:xfrm>
                <a:off x="3595675" y="3836538"/>
                <a:ext cx="4174870" cy="406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1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Uganda Christian University</a:t>
                </a:r>
                <a:endParaRPr sz="16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pic>
            <p:nvPicPr>
              <p:cNvPr id="82" name="Google Shape;82;p18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t="34921" r="64675" b="31937"/>
              <a:stretch/>
            </p:blipFill>
            <p:spPr>
              <a:xfrm>
                <a:off x="6492923" y="4908033"/>
                <a:ext cx="260459" cy="259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3" name="Google Shape;83;p18"/>
            <p:cNvPicPr preferRelativeResize="0"/>
            <p:nvPr/>
          </p:nvPicPr>
          <p:blipFill rotWithShape="1">
            <a:blip r:embed="rId7">
              <a:alphaModFix/>
            </a:blip>
            <a:srcRect l="4177" t="16271" r="77310" b="16736"/>
            <a:stretch/>
          </p:blipFill>
          <p:spPr>
            <a:xfrm>
              <a:off x="3063490" y="4440462"/>
              <a:ext cx="1197778" cy="1320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18" descr="Red button thank you icon Royalty Free Vector Image"/>
          <p:cNvPicPr preferRelativeResize="0"/>
          <p:nvPr/>
        </p:nvPicPr>
        <p:blipFill rotWithShape="1">
          <a:blip r:embed="rId8">
            <a:alphaModFix/>
          </a:blip>
          <a:srcRect b="13042"/>
          <a:stretch/>
        </p:blipFill>
        <p:spPr>
          <a:xfrm>
            <a:off x="5409985" y="1899157"/>
            <a:ext cx="1825644" cy="17041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8"/>
          <p:cNvGrpSpPr/>
          <p:nvPr/>
        </p:nvGrpSpPr>
        <p:grpSpPr>
          <a:xfrm>
            <a:off x="8223082" y="4505034"/>
            <a:ext cx="4710416" cy="1774757"/>
            <a:chOff x="4261082" y="3159912"/>
            <a:chExt cx="5618294" cy="2129734"/>
          </a:xfrm>
        </p:grpSpPr>
        <p:pic>
          <p:nvPicPr>
            <p:cNvPr id="86" name="Google Shape;86;p18" descr="facebook instagram whatsapp PNG image with transparent background | TOPpng"/>
            <p:cNvPicPr preferRelativeResize="0"/>
            <p:nvPr/>
          </p:nvPicPr>
          <p:blipFill rotWithShape="1">
            <a:blip r:embed="rId2">
              <a:alphaModFix/>
            </a:blip>
            <a:srcRect r="66494" b="67238"/>
            <a:stretch/>
          </p:blipFill>
          <p:spPr>
            <a:xfrm>
              <a:off x="4333142" y="4196730"/>
              <a:ext cx="277638" cy="288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8" descr="Round black telephone logo, Telephone Icon, Phone File, electronics, logo,  black And White png | PNGWi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62423" y="4497666"/>
              <a:ext cx="245303" cy="2550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8"/>
            <p:cNvSpPr txBox="1"/>
            <p:nvPr/>
          </p:nvSpPr>
          <p:spPr>
            <a:xfrm>
              <a:off x="4629313" y="4929543"/>
              <a:ext cx="2964236" cy="360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9" name="Google Shape;89;p18"/>
            <p:cNvSpPr txBox="1"/>
            <p:nvPr/>
          </p:nvSpPr>
          <p:spPr>
            <a:xfrm>
              <a:off x="4547946" y="4468247"/>
              <a:ext cx="1959178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https://cse.ucu.ac.ug/</a:t>
              </a:r>
              <a:endParaRPr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" name="Google Shape;90;p18"/>
            <p:cNvSpPr txBox="1"/>
            <p:nvPr/>
          </p:nvSpPr>
          <p:spPr>
            <a:xfrm>
              <a:off x="6285518" y="4170852"/>
              <a:ext cx="1750610" cy="332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@ucu_ComputEng</a:t>
              </a:r>
              <a:endParaRPr sz="1200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1" name="Google Shape;91;p18"/>
            <p:cNvSpPr txBox="1"/>
            <p:nvPr/>
          </p:nvSpPr>
          <p:spPr>
            <a:xfrm>
              <a:off x="4547946" y="4152767"/>
              <a:ext cx="1581881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@ucucomputeng</a:t>
              </a:r>
              <a:endParaRPr sz="1100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4281392" y="3800378"/>
              <a:ext cx="5597984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Tel: +256 (0) 312 350 863 | WhatsApp: +256 (0) 708 114 300</a:t>
              </a:r>
              <a:endParaRPr/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4261082" y="3159912"/>
              <a:ext cx="5597985" cy="627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Department of Computing &amp; Technology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C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FACULTY OF ENGINEERING, DESIGN AND TECHNOLOGY</a:t>
              </a:r>
              <a:endParaRPr sz="12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94" name="Google Shape;94;p18" descr="facebook instagram whatsapp PNG image with transparent background | TOPpng"/>
            <p:cNvPicPr preferRelativeResize="0"/>
            <p:nvPr/>
          </p:nvPicPr>
          <p:blipFill rotWithShape="1">
            <a:blip r:embed="rId3">
              <a:alphaModFix/>
            </a:blip>
            <a:srcRect t="34921" r="64675" b="31937"/>
            <a:stretch/>
          </p:blipFill>
          <p:spPr>
            <a:xfrm>
              <a:off x="6070315" y="4226614"/>
              <a:ext cx="301120" cy="3004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8"/>
          <p:cNvSpPr txBox="1"/>
          <p:nvPr/>
        </p:nvSpPr>
        <p:spPr>
          <a:xfrm>
            <a:off x="10081508" y="5598486"/>
            <a:ext cx="20007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E4E79"/>
                </a:solidFill>
                <a:latin typeface="Trebuchet MS"/>
                <a:ea typeface="Trebuchet MS"/>
                <a:cs typeface="Trebuchet MS"/>
                <a:sym typeface="Trebuchet MS"/>
              </a:rPr>
              <a:t>Email: dct-</a:t>
            </a:r>
            <a:r>
              <a:rPr lang="en-GB" sz="11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endParaRPr sz="11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7631107" y="4473507"/>
            <a:ext cx="634564" cy="1407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8"/>
          <p:cNvCxnSpPr/>
          <p:nvPr/>
        </p:nvCxnSpPr>
        <p:spPr>
          <a:xfrm flipH="1">
            <a:off x="345989" y="4505034"/>
            <a:ext cx="11846011" cy="1050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 rot="5400000">
            <a:off x="3851275" y="-1325561"/>
            <a:ext cx="448945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ucu.ac.ug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mailto:info@ucu.ac.ug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76791" y="0"/>
            <a:ext cx="2415209" cy="73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rgbClr val="1F497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014D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733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B3D91"/>
              </a:buClr>
              <a:buSzPts val="228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8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2918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584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2689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931"/>
              </a:buClr>
              <a:buSzPts val="1548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/>
          <p:nvPr/>
        </p:nvSpPr>
        <p:spPr>
          <a:xfrm>
            <a:off x="2116899" y="6356350"/>
            <a:ext cx="75174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u="none" strike="noStrike" cap="none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rPr>
              <a:t>A Complete Education for A Complete Person</a:t>
            </a:r>
            <a:b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P.O. Box 4, Mukono, Uganda, Plot 67-173, Bishop Tucker Road, Mukono Hill | Tel: +256 (0) 312 350 800 Email: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r>
              <a:rPr lang="en-GB" sz="700" b="0" i="0" u="none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ucu.ac.ug</a:t>
            </a:r>
            <a:endParaRPr sz="700" b="0" i="0" u="sng" strike="noStrike" cap="non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Founded by the Province of the Church of Uganda. Chartered by the Government of Uganda</a:t>
            </a:r>
            <a:endParaRPr sz="65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9" name="Google Shape;19;p10"/>
          <p:cNvCxnSpPr/>
          <p:nvPr/>
        </p:nvCxnSpPr>
        <p:spPr>
          <a:xfrm>
            <a:off x="0" y="6395027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70167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" name="Google Shape;20;p10"/>
          <p:cNvPicPr preferRelativeResize="0"/>
          <p:nvPr/>
        </p:nvPicPr>
        <p:blipFill rotWithShape="1">
          <a:blip r:embed="rId14">
            <a:alphaModFix/>
          </a:blip>
          <a:srcRect b="42643"/>
          <a:stretch/>
        </p:blipFill>
        <p:spPr>
          <a:xfrm>
            <a:off x="0" y="5412967"/>
            <a:ext cx="1162289" cy="1445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/>
        </p:nvSpPr>
        <p:spPr>
          <a:xfrm>
            <a:off x="1007534" y="5551742"/>
            <a:ext cx="3733800" cy="82038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937001" y="5579763"/>
            <a:ext cx="3804333" cy="83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lang="en-GB" sz="2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Ayebare Moses</a:t>
            </a:r>
            <a:endParaRPr sz="2000" b="0" u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Trebuchet MS"/>
              <a:buNone/>
            </a:pPr>
            <a:r>
              <a:rPr lang="en-GB" sz="1400" b="1" u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Computing &amp; Technology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Trebuchet MS"/>
              <a:buNone/>
            </a:pPr>
            <a:r>
              <a:rPr lang="en-GB" sz="1400" b="0" u="none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Faculty of Engineering, Design &amp; Technology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1" y="2156859"/>
            <a:ext cx="12191999" cy="1325563"/>
          </a:xfrm>
          <a:prstGeom prst="rect">
            <a:avLst/>
          </a:prstGeom>
          <a:solidFill>
            <a:srgbClr val="0A3D91"/>
          </a:solidFill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endParaRPr sz="2800" b="0" u="none">
              <a:solidFill>
                <a:srgbClr val="FFFF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" y="2181298"/>
            <a:ext cx="12191999" cy="889481"/>
          </a:xfrm>
          <a:prstGeom prst="rect">
            <a:avLst/>
          </a:prstGeom>
          <a:noFill/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en-US" sz="4400" dirty="0">
                <a:solidFill>
                  <a:schemeClr val="bg1"/>
                </a:solidFill>
              </a:rPr>
              <a:t>Database Security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-2" y="2940050"/>
            <a:ext cx="12191999" cy="488950"/>
          </a:xfrm>
          <a:prstGeom prst="rect">
            <a:avLst/>
          </a:prstGeom>
          <a:noFill/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FFFF00"/>
              </a:buClr>
              <a:buSzPts val="2800"/>
            </a:pPr>
            <a:r>
              <a:rPr lang="en-GB" sz="2800" b="0" u="none" dirty="0">
                <a:solidFill>
                  <a:srgbClr val="FFFF00"/>
                </a:solidFill>
                <a:latin typeface="Trebuchet MS"/>
                <a:ea typeface="Trebuchet MS"/>
                <a:cs typeface="Trebuchet MS"/>
                <a:sym typeface="Trebuchet MS"/>
              </a:rPr>
              <a:t> (</a:t>
            </a:r>
            <a:r>
              <a:rPr lang="en-US" sz="2800" dirty="0">
                <a:solidFill>
                  <a:srgbClr val="FFFF00"/>
                </a:solidFill>
                <a:ea typeface="Trebuchet MS"/>
              </a:rPr>
              <a:t>Database Programming - BSIT 2:1</a:t>
            </a:r>
            <a:r>
              <a:rPr lang="en-GB" sz="2800" b="0" u="none" dirty="0">
                <a:solidFill>
                  <a:srgbClr val="FFFF00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2800" b="0" u="none" dirty="0">
              <a:solidFill>
                <a:srgbClr val="FFFF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already know database security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Mobile money: 3 wrong PINs and the account locks</a:t>
            </a:r>
          </a:p>
          <a:p>
            <a:r>
              <a:rPr lang="en-US" sz="2400" dirty="0"/>
              <a:t>Campus gate: you show your ID before you get in</a:t>
            </a:r>
          </a:p>
          <a:p>
            <a:r>
              <a:rPr lang="en-US" sz="2400" dirty="0"/>
              <a:t>Your room key opens your room, not every room</a:t>
            </a:r>
          </a:p>
          <a:p>
            <a:r>
              <a:rPr lang="en-US" sz="2400" dirty="0"/>
              <a:t>Today we build the same protection into MySQL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we’ll be covered in Database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1: Who are you? (users, passwords, locking)</a:t>
            </a:r>
          </a:p>
          <a:p>
            <a:r>
              <a:rPr lang="en-US" dirty="0"/>
              <a:t>Lecture 2: What may you do? (privileges, roles)</a:t>
            </a:r>
          </a:p>
          <a:p>
            <a:r>
              <a:rPr lang="en-US" dirty="0"/>
              <a:t>Lecture 3: Guarding the doors (views, procedures, triggers, auditing)</a:t>
            </a:r>
          </a:p>
          <a:p>
            <a:r>
              <a:rPr lang="en-US" dirty="0"/>
              <a:t>Lecture 4: When things go wrong (backup and recovery)</a:t>
            </a:r>
          </a:p>
          <a:p>
            <a:r>
              <a:rPr lang="en-US" dirty="0"/>
              <a:t>Every lecture adds one part to your semester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715DC0C1-D10D-DA4A-32A9-85CFC100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551D-C156-495A-F114-4928086E1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goals of database security: CIA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BED2A-3A1F-A779-C661-22F84D011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Confidentiality - only the right people can SEE data (a lecturer must not see fee payments)</a:t>
            </a:r>
          </a:p>
          <a:p>
            <a:r>
              <a:rPr lang="en-US" dirty="0"/>
              <a:t>Integrity - only the right people can CHANGE data, and only correctly (marks between 0 and 100)</a:t>
            </a:r>
          </a:p>
          <a:p>
            <a:r>
              <a:rPr lang="en-US" dirty="0"/>
              <a:t>Availability - data is THERE when needed (the database comes back after a disaster)</a:t>
            </a:r>
          </a:p>
        </p:txBody>
      </p:sp>
    </p:spTree>
    <p:extLst>
      <p:ext uri="{BB962C8B-B14F-4D97-AF65-F5344CB8AC3E}">
        <p14:creationId xmlns:p14="http://schemas.microsoft.com/office/powerpoint/2010/main" val="161256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D203382-4A06-25E8-28F9-1D6526CA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BC6F3F-27C6-DD0E-88B6-F55C5BBD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DCL - Data Control Language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D5E84-0408-75E0-53A9-D2C3FB231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DDL builds objects (CREATE TABLE)</a:t>
            </a:r>
          </a:p>
          <a:p>
            <a:r>
              <a:rPr lang="en-US" sz="2400" dirty="0"/>
              <a:t>DML works with rows (SELECT, INSERT, UPDATE, DELETE)</a:t>
            </a:r>
          </a:p>
          <a:p>
            <a:r>
              <a:rPr lang="en-US" sz="2400" dirty="0"/>
              <a:t>DCL decides WHO may do either: GRANT and REVOKE</a:t>
            </a:r>
          </a:p>
          <a:p>
            <a:r>
              <a:rPr lang="en-US" sz="2400" dirty="0"/>
              <a:t>Changes apply immediately - no need to log out</a:t>
            </a:r>
          </a:p>
          <a:p>
            <a:r>
              <a:rPr lang="en-US" sz="2400" dirty="0"/>
              <a:t>CODE:</a:t>
            </a:r>
          </a:p>
          <a:p>
            <a:pPr lvl="1"/>
            <a:r>
              <a:rPr lang="en-US" dirty="0"/>
              <a:t>GRANT &lt;privilege&gt; ON &lt;object&gt; TO &lt;user&gt;;</a:t>
            </a:r>
          </a:p>
          <a:p>
            <a:pPr lvl="1"/>
            <a:r>
              <a:rPr lang="en-US" dirty="0"/>
              <a:t>REVOKE &lt;privilege&gt; ON &lt;object&gt; FROM &lt;user&gt;;</a:t>
            </a:r>
          </a:p>
        </p:txBody>
      </p:sp>
    </p:spTree>
    <p:extLst>
      <p:ext uri="{BB962C8B-B14F-4D97-AF65-F5344CB8AC3E}">
        <p14:creationId xmlns:p14="http://schemas.microsoft.com/office/powerpoint/2010/main" val="215304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vs Authorization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= WHO are you? (username + password + where you connect from)</a:t>
            </a:r>
          </a:p>
          <a:p>
            <a:r>
              <a:rPr lang="en-US" dirty="0"/>
              <a:t>Authorization = WHAT may you do? (privileges)</a:t>
            </a:r>
          </a:p>
          <a:p>
            <a:r>
              <a:rPr lang="en-US" dirty="0"/>
              <a:t>Authentication happens once, at login</a:t>
            </a:r>
          </a:p>
          <a:p>
            <a:r>
              <a:rPr lang="en-US" dirty="0"/>
              <a:t>Authorization is checked on EVERY statement you run</a:t>
            </a:r>
          </a:p>
          <a:p>
            <a:r>
              <a:rPr lang="en-US" dirty="0"/>
              <a:t>Failed authentication: ERROR 1045 Access denied</a:t>
            </a:r>
          </a:p>
          <a:p>
            <a:r>
              <a:rPr lang="en-US" dirty="0"/>
              <a:t>Failed authorization: ERROR 1142 command denied</a:t>
            </a:r>
          </a:p>
          <a:p>
            <a:r>
              <a:rPr lang="en-US" b="1" dirty="0"/>
              <a:t>For example, Campus gate (authentication) vs room key (authorization).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7CEB5D2-2B40-2922-4AA2-F5596E9E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9C51EB-520C-D5C3-EF13-0F3A1E0A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MySQL account is '</a:t>
            </a:r>
            <a:r>
              <a:rPr lang="en-US" dirty="0" err="1"/>
              <a:t>username'@'host</a:t>
            </a:r>
            <a:r>
              <a:rPr lang="en-US" dirty="0"/>
              <a:t>'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D0E1F-B9E6-4D14-0FC6-36EB9E3F5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'localhost' - only on the server machine itself</a:t>
            </a:r>
          </a:p>
          <a:p>
            <a:r>
              <a:rPr lang="en-US" dirty="0"/>
              <a:t>'%' = from ANY computer(convenient, least safe)</a:t>
            </a:r>
          </a:p>
          <a:p>
            <a:r>
              <a:rPr lang="en-US" dirty="0"/>
              <a:t>'192.168.10.%'  = only from the lab subnet (safer)</a:t>
            </a:r>
          </a:p>
          <a:p>
            <a:r>
              <a:rPr lang="en-US" dirty="0"/>
              <a:t>'192.168.10.25'   = only from one computer (safest)</a:t>
            </a:r>
          </a:p>
          <a:p>
            <a:r>
              <a:rPr lang="en-US" dirty="0"/>
              <a:t>'</a:t>
            </a:r>
            <a:r>
              <a:rPr lang="en-US" dirty="0" err="1"/>
              <a:t>john'@'localhost</a:t>
            </a:r>
            <a:r>
              <a:rPr lang="en-US" dirty="0"/>
              <a:t>' and 'john'@'%' are TWO DIFFERENT accounts with different passwords and privileges.</a:t>
            </a:r>
          </a:p>
        </p:txBody>
      </p:sp>
    </p:spTree>
    <p:extLst>
      <p:ext uri="{BB962C8B-B14F-4D97-AF65-F5344CB8AC3E}">
        <p14:creationId xmlns:p14="http://schemas.microsoft.com/office/powerpoint/2010/main" val="122390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F756425-BFA7-087F-2633-858891A2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6E8C7C-C600-308A-97EE-DC4FBF0B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and remote database users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40D624-269A-CDD2-E2E5-138AFBD46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user: connects from the same machine as the server i.e. most users in your project</a:t>
            </a:r>
          </a:p>
          <a:p>
            <a:r>
              <a:rPr lang="en-US" dirty="0"/>
              <a:t>Remote user: connects over the network from another computer</a:t>
            </a:r>
          </a:p>
          <a:p>
            <a:r>
              <a:rPr lang="en-US" dirty="0"/>
              <a:t>Restrict remote users to the narrowest host you can (subnet or one IP)</a:t>
            </a:r>
          </a:p>
          <a:p>
            <a:r>
              <a:rPr lang="en-US" dirty="0"/>
              <a:t>Avoid '%' unless there is no other way</a:t>
            </a:r>
          </a:p>
          <a:p>
            <a:r>
              <a:rPr lang="en-US" dirty="0"/>
              <a:t>Remote access also needs the server and firewall to allow port 3306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174495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40209DD-8D12-26A9-6808-5A1C5C88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A39FBC-8BB6-CAD6-71E4-6AAA2334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user accounts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B7160-44A7-347B-0781-82420461B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00040"/>
            <a:ext cx="10515600" cy="4489450"/>
          </a:xfrm>
        </p:spPr>
        <p:txBody>
          <a:bodyPr>
            <a:normAutofit/>
          </a:bodyPr>
          <a:lstStyle/>
          <a:p>
            <a:r>
              <a:rPr lang="en-US" sz="2400" dirty="0"/>
              <a:t>CREATE USER - make a new account with a password</a:t>
            </a:r>
          </a:p>
          <a:p>
            <a:r>
              <a:rPr lang="en-US" sz="2400" dirty="0"/>
              <a:t>ALTER USER - change an account (password, expiry, locking)</a:t>
            </a:r>
          </a:p>
          <a:p>
            <a:r>
              <a:rPr lang="en-US" sz="2400" dirty="0"/>
              <a:t>RENAME USER - change a username (or host); privileges move with it</a:t>
            </a:r>
          </a:p>
          <a:p>
            <a:r>
              <a:rPr lang="en-US" sz="2400" dirty="0"/>
              <a:t>DROP USER - delete an account (IF EXISTS avoids an error if it is missing)</a:t>
            </a:r>
          </a:p>
          <a:p>
            <a:r>
              <a:rPr lang="en-US" sz="2400" dirty="0"/>
              <a:t>The list of accounts lives in the system table </a:t>
            </a:r>
            <a:r>
              <a:rPr lang="en-US" sz="2400" dirty="0" err="1"/>
              <a:t>mysql.user</a:t>
            </a:r>
            <a:endParaRPr lang="en-US" sz="2400" dirty="0"/>
          </a:p>
          <a:p>
            <a:r>
              <a:rPr lang="en-US" sz="2400" dirty="0"/>
              <a:t>PATTERN:</a:t>
            </a:r>
          </a:p>
          <a:p>
            <a:pPr lvl="1"/>
            <a:r>
              <a:rPr lang="en-US" sz="2000" dirty="0"/>
              <a:t>CREATE USER '</a:t>
            </a:r>
            <a:r>
              <a:rPr lang="en-US" sz="2000" dirty="0" err="1"/>
              <a:t>username'@'host</a:t>
            </a:r>
            <a:r>
              <a:rPr lang="en-US" sz="2000" dirty="0"/>
              <a:t>' IDENTIFIED BY 'password';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5665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1DF935C-702A-CB62-9406-8B07D14F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D9EC8D-79FE-6241-4E75-B090F586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management policies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7EEAC-F92E-3F39-35A8-232F7F786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Set / reset: the administrator gives an account a new password</a:t>
            </a:r>
          </a:p>
          <a:p>
            <a:r>
              <a:rPr lang="en-US" sz="2400" dirty="0"/>
              <a:t>PASSWORD EXPIRE - user must choose a new password at next (first) login</a:t>
            </a:r>
          </a:p>
          <a:p>
            <a:r>
              <a:rPr lang="en-US" sz="2400" dirty="0"/>
              <a:t>PASSWORD EXPIRE INTERVAL n DAY - password must be changed every n days (or NEVER / DEFAULT)</a:t>
            </a:r>
          </a:p>
          <a:p>
            <a:r>
              <a:rPr lang="en-US" sz="2400" dirty="0"/>
              <a:t>PASSWORD HISTORY n - cannot reuse any of the last n passwords</a:t>
            </a:r>
          </a:p>
          <a:p>
            <a:r>
              <a:rPr lang="en-US" sz="2400" dirty="0"/>
              <a:t>PASSWORD REUSE INTERVAL n DAY - cannot reuse a password used in the last n days</a:t>
            </a:r>
          </a:p>
          <a:p>
            <a:r>
              <a:rPr lang="en-US" sz="2400" b="1" dirty="0"/>
              <a:t>For example, like a new bank card: the bank sets the PIN, you must change it before using the card.</a:t>
            </a:r>
          </a:p>
        </p:txBody>
      </p:sp>
    </p:spTree>
    <p:extLst>
      <p:ext uri="{BB962C8B-B14F-4D97-AF65-F5344CB8AC3E}">
        <p14:creationId xmlns:p14="http://schemas.microsoft.com/office/powerpoint/2010/main" val="221846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AD29-DD16-F175-7FCE-A13797B8E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changing their own password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294C2-65DC-DB30-9643-1C7AFD04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user can change their own password - no admin needed</a:t>
            </a:r>
          </a:p>
          <a:p>
            <a:r>
              <a:rPr lang="en-US" dirty="0"/>
              <a:t>PASSWORD REQUIRE CURRENT - user must type the old password to set a new one</a:t>
            </a:r>
          </a:p>
          <a:p>
            <a:r>
              <a:rPr lang="en-US" dirty="0"/>
              <a:t>Why: stops someone at an unattended, logged-in computer from taking over the account</a:t>
            </a:r>
          </a:p>
          <a:p>
            <a:r>
              <a:rPr lang="en-US" dirty="0"/>
              <a:t>The history and reuse rules still apply to the new password</a:t>
            </a:r>
          </a:p>
          <a:p>
            <a:r>
              <a:rPr lang="en-US" dirty="0"/>
              <a:t>PATTERN:</a:t>
            </a:r>
          </a:p>
          <a:p>
            <a:pPr lvl="1"/>
            <a:r>
              <a:rPr lang="en-US" dirty="0"/>
              <a:t>ALTER USER USER() IDENTIFIED BY '</a:t>
            </a:r>
            <a:r>
              <a:rPr lang="en-US" dirty="0" err="1"/>
              <a:t>new_password</a:t>
            </a:r>
            <a:r>
              <a:rPr lang="en-US" dirty="0"/>
              <a:t>' REPLACE '</a:t>
            </a:r>
            <a:r>
              <a:rPr lang="en-US" dirty="0" err="1"/>
              <a:t>old_password</a:t>
            </a:r>
            <a:r>
              <a:rPr lang="en-US" dirty="0"/>
              <a:t>';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519907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828A-0408-F75E-E55A-1B8E742F6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Locking and unlocking accounts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BE6BC-40B4-77A1-48FC-B142525A4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Manual lock: ACCOUNT LOCK / ACCOUNT UNLOCK - staff on leave, suspected misuse, someone has left</a:t>
            </a:r>
          </a:p>
          <a:p>
            <a:r>
              <a:rPr lang="en-US" sz="2400" dirty="0"/>
              <a:t>Automatic temporary lock: FAILED_LOGIN_ATTEMPTS n + PASSWORD_LOCK_TIME d</a:t>
            </a:r>
          </a:p>
          <a:p>
            <a:r>
              <a:rPr lang="en-US" sz="2400" dirty="0"/>
              <a:t>After n wrong passwords IN A ROW the account is blocked for d DAYS</a:t>
            </a:r>
          </a:p>
          <a:p>
            <a:r>
              <a:rPr lang="en-US" sz="2400" dirty="0"/>
              <a:t>PASSWORD_LOCK_TIME UNBOUNDED - blocked until an admin unlocks it</a:t>
            </a:r>
          </a:p>
          <a:p>
            <a:r>
              <a:rPr lang="en-US" sz="2400" dirty="0"/>
              <a:t>While blocked, even the CORRECT password is refused</a:t>
            </a:r>
          </a:p>
          <a:p>
            <a:r>
              <a:rPr lang="en-US" sz="2400" dirty="0"/>
              <a:t>ACCOUNT UNLOCK - admin unlocks early and resets the counter</a:t>
            </a:r>
            <a:endParaRPr lang="en-UG" sz="2400" dirty="0"/>
          </a:p>
        </p:txBody>
      </p:sp>
    </p:spTree>
    <p:extLst>
      <p:ext uri="{BB962C8B-B14F-4D97-AF65-F5344CB8AC3E}">
        <p14:creationId xmlns:p14="http://schemas.microsoft.com/office/powerpoint/2010/main" val="276370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7D03-4390-0D4E-E6F2-6DC0CA00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see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BE90A-6E70-025C-5111-9A686E410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1045 Access denied - wrong username or password (authentication)</a:t>
            </a:r>
          </a:p>
          <a:p>
            <a:r>
              <a:rPr lang="en-US" sz="2400" dirty="0"/>
              <a:t>1142 command denied - logged in, but no privilege (authorization)</a:t>
            </a:r>
          </a:p>
          <a:p>
            <a:r>
              <a:rPr lang="en-US" sz="2400" dirty="0"/>
              <a:t>1820 You must reset your password - password expired</a:t>
            </a:r>
          </a:p>
          <a:p>
            <a:r>
              <a:rPr lang="en-US" sz="2400" dirty="0"/>
              <a:t>3892 Current password needs to be specified - REQUIRE CURRENT is on</a:t>
            </a:r>
          </a:p>
          <a:p>
            <a:r>
              <a:rPr lang="en-US" sz="2400" dirty="0"/>
              <a:t>3638 contradict the password history policy - password was used recently</a:t>
            </a:r>
          </a:p>
          <a:p>
            <a:r>
              <a:rPr lang="en-US" sz="2400" dirty="0"/>
              <a:t>3118 Account is locked - manual lock</a:t>
            </a:r>
          </a:p>
          <a:p>
            <a:r>
              <a:rPr lang="en-US" sz="2400" dirty="0"/>
              <a:t>3955 Account is blocked ... consecutive failed logins - too many wrong passwords</a:t>
            </a:r>
            <a:endParaRPr lang="en-UG" sz="2400" dirty="0"/>
          </a:p>
        </p:txBody>
      </p:sp>
    </p:spTree>
    <p:extLst>
      <p:ext uri="{BB962C8B-B14F-4D97-AF65-F5344CB8AC3E}">
        <p14:creationId xmlns:p14="http://schemas.microsoft.com/office/powerpoint/2010/main" val="166828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7CC8-1164-2AD1-29AD-F87AFB1D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54FAB-733F-6843-C22C-6544C9A5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 err="1"/>
              <a:t>mysql</a:t>
            </a:r>
            <a:r>
              <a:rPr lang="en-US" sz="2400" dirty="0"/>
              <a:t> -u user -p is a TERMINAL command - never type it at the </a:t>
            </a:r>
            <a:r>
              <a:rPr lang="en-US" sz="2400" dirty="0" err="1"/>
              <a:t>mysql</a:t>
            </a:r>
            <a:r>
              <a:rPr lang="en-US" sz="2400" dirty="0"/>
              <a:t>&gt; prompt</a:t>
            </a:r>
          </a:p>
          <a:p>
            <a:r>
              <a:rPr lang="en-US" sz="2400" dirty="0"/>
              <a:t>-p then type the password when asked (no space: -p 1234 means database "1234")</a:t>
            </a:r>
          </a:p>
          <a:p>
            <a:r>
              <a:rPr lang="en-US" sz="2400" dirty="0"/>
              <a:t>Password history only counts passwords set AFTER the policy is switched on - put it in CREATE USER</a:t>
            </a:r>
          </a:p>
          <a:p>
            <a:r>
              <a:rPr lang="en-US" sz="2400" dirty="0"/>
              <a:t>PASSWORD EXPIRE and PASSWORD EXPIRE INTERVAL in one statement cancel each other - use two statements</a:t>
            </a:r>
          </a:p>
          <a:p>
            <a:r>
              <a:rPr lang="en-US" sz="2400" dirty="0"/>
              <a:t>Changing FAILED_LOGIN_ATTEMPTS / PASSWORD_LOCK_TIME also unlocks the account</a:t>
            </a:r>
          </a:p>
          <a:p>
            <a:r>
              <a:rPr lang="en-US" sz="2400" dirty="0"/>
              <a:t>Lock time is in whole DAYS - there is no minutes option</a:t>
            </a:r>
          </a:p>
          <a:p>
            <a:r>
              <a:rPr lang="en-US" sz="2400" b="1" dirty="0"/>
              <a:t>Never </a:t>
            </a:r>
            <a:r>
              <a:rPr lang="en-US" sz="2400" b="1" dirty="0" err="1"/>
              <a:t>practise</a:t>
            </a:r>
            <a:r>
              <a:rPr lang="en-US" sz="2400" b="1" dirty="0"/>
              <a:t> locking on root</a:t>
            </a:r>
            <a:endParaRPr lang="en-UG" sz="2400" b="1" dirty="0"/>
          </a:p>
        </p:txBody>
      </p:sp>
    </p:spTree>
    <p:extLst>
      <p:ext uri="{BB962C8B-B14F-4D97-AF65-F5344CB8AC3E}">
        <p14:creationId xmlns:p14="http://schemas.microsoft.com/office/powerpoint/2010/main" val="80209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6792-3B0F-DDB8-DA21-93FDDAC4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Semester project tasks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A0B56-9248-6CC8-ED53-FA5838C0C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user for each real job in your system (at least 3)</a:t>
            </a:r>
          </a:p>
          <a:p>
            <a:r>
              <a:rPr lang="en-US" dirty="0"/>
              <a:t>One remote user limited to a subnet (not '%’)</a:t>
            </a:r>
          </a:p>
          <a:p>
            <a:r>
              <a:rPr lang="en-US" dirty="0"/>
              <a:t>Every user: change at first login, password history, failed-login lock</a:t>
            </a:r>
          </a:p>
          <a:p>
            <a:r>
              <a:rPr lang="en-US" dirty="0"/>
              <a:t>Log in once as each user to test it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605657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510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1063</Words>
  <Application>Microsoft Office PowerPoint</Application>
  <PresentationFormat>Widescreen</PresentationFormat>
  <Paragraphs>105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Noto Sans Symbols</vt:lpstr>
      <vt:lpstr>Trebuchet MS</vt:lpstr>
      <vt:lpstr>Office Theme</vt:lpstr>
      <vt:lpstr>PowerPoint Presentation</vt:lpstr>
      <vt:lpstr>You already know database security</vt:lpstr>
      <vt:lpstr>What we’ll be covered in Database Security</vt:lpstr>
      <vt:lpstr>The goals of database security: CIA</vt:lpstr>
      <vt:lpstr>DCL - Data Control Language</vt:lpstr>
      <vt:lpstr>Authentication vs Authorization</vt:lpstr>
      <vt:lpstr>A MySQL account is 'username'@'host'</vt:lpstr>
      <vt:lpstr>Local and remote database users</vt:lpstr>
      <vt:lpstr>Managing user accounts</vt:lpstr>
      <vt:lpstr>Password management policies</vt:lpstr>
      <vt:lpstr>Users changing their own password</vt:lpstr>
      <vt:lpstr>Locking and unlocking accounts</vt:lpstr>
      <vt:lpstr>What you will see</vt:lpstr>
      <vt:lpstr>Remember this</vt:lpstr>
      <vt:lpstr>Semester project tasks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Moses A</cp:lastModifiedBy>
  <cp:revision>25</cp:revision>
  <dcterms:created xsi:type="dcterms:W3CDTF">2023-08-23T08:11:39Z</dcterms:created>
  <dcterms:modified xsi:type="dcterms:W3CDTF">2026-10-13T06:35:31Z</dcterms:modified>
</cp:coreProperties>
</file>